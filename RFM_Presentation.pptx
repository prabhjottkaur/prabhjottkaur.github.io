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(£M)</c:v>
                </c:pt>
              </c:strCache>
            </c:strRef>
          </c:tx>
          <c:spPr>
            <a:solidFill>
              <a:srgbClr val="4CAF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CAF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68E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0A5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C8F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Champions</c:v>
                  </c:pt>
                  <c:pt idx="1">
                    <c:v>At Risk</c:v>
                  </c:pt>
                  <c:pt idx="2">
                    <c:v>Others</c:v>
                  </c:pt>
                  <c:pt idx="3">
                    <c:v>Churned</c:v>
                  </c:pt>
                  <c:pt idx="4">
                    <c:v>Loyal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6.57</c:v>
                </c:pt>
                <c:pt idx="1">
                  <c:v>0.96</c:v>
                </c:pt>
                <c:pt idx="2">
                  <c:v>0.62</c:v>
                </c:pt>
                <c:pt idx="3">
                  <c:v>0.31</c:v>
                </c:pt>
                <c:pt idx="4">
                  <c:v>0.26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22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5F9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7B68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B68E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CAF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A5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C8F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Others</c:v>
                  </c:pt>
                  <c:pt idx="1">
                    <c:v>Champions</c:v>
                  </c:pt>
                  <c:pt idx="2">
                    <c:v>Churned</c:v>
                  </c:pt>
                  <c:pt idx="3">
                    <c:v>At Risk</c:v>
                  </c:pt>
                  <c:pt idx="4">
                    <c:v>Loyal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1450</c:v>
                </c:pt>
                <c:pt idx="1">
                  <c:v>1348</c:v>
                </c:pt>
                <c:pt idx="2">
                  <c:v>690</c:v>
                </c:pt>
                <c:pt idx="3">
                  <c:v>560</c:v>
                </c:pt>
                <c:pt idx="4">
                  <c:v>286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22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Customer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3017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high-value customers, revenue risk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9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geographic concentration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188720"/>
            <a:ext cx="2377440" cy="2560320"/>
          </a:xfrm>
          <a:prstGeom prst="rect">
            <a:avLst/>
          </a:prstGeom>
          <a:solidFill>
            <a:srgbClr val="2A2B3D"/>
          </a:solidFill>
          <a:ln w="12700">
            <a:solidFill>
              <a:srgbClr val="3A3B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0" y="1417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0" y="19933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2423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£8.72M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0" y="2926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470916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Prabhjot Kaur  ·  UCI Online Retail Dataset  ·  Python + MySQL + Power BI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6172A"/>
          </a:solidFill>
          <a:ln w="12700">
            <a:solidFill>
              <a:srgbClr val="16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8595360" cy="1234440"/>
          </a:xfrm>
          <a:prstGeom prst="rect">
            <a:avLst/>
          </a:prstGeom>
          <a:solidFill>
            <a:srgbClr val="EEEEF8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658368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revenue distributed across customer segments and countries,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2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where is the business most exposed to concentration or revenue risk?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96596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96596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20208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2286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 segments drive the highest revenue?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88036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88036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9352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3200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is currently at risk from declining engagement?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79476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79476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8496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4114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segments have the highest purchase frequency?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196596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96596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20208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73752" y="2286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revenue distributed across countries?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88036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88036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29352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73752" y="3200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 are most dependent on specific segments?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379476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79476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38496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73752" y="4114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concentrated is revenue within high-value groups?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6172A"/>
          </a:solidFill>
          <a:ln w="12700">
            <a:solidFill>
              <a:srgbClr val="16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663440" y="5029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Methodology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3931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54864" cy="82296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3327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26187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Online Retail Dataset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(Machine Learning Repository)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039112"/>
            <a:ext cx="3931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039112"/>
            <a:ext cx="54864" cy="82296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11226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234086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 transactions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4,334 unique customers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118104"/>
            <a:ext cx="3931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118104"/>
            <a:ext cx="54864" cy="10058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19125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" y="3419856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No, Customer ID,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Quantity, Unit Price,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Date, Country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96012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96012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10332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Aggregate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64608" y="12618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Recency, Frequency, Monetary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per customer using SQL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87452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87452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19476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Score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64608" y="21762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NTILE(4) quartile-based scoring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R, F, M independently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78892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78892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8620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Segment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64608" y="30906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Champions, Loyal, At Risk,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Churned, Others via CASE logic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70332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70332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37764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64608" y="40050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2-page dashboard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+ Segment Drill-Through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6172A"/>
          </a:solidFill>
          <a:ln w="12700">
            <a:solidFill>
              <a:srgbClr val="16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502920"/>
            <a:ext cx="8595360" cy="1234440"/>
          </a:xfrm>
          <a:prstGeom prst="rect">
            <a:avLst/>
          </a:prstGeom>
          <a:solidFill>
            <a:srgbClr val="16172A"/>
          </a:solidFill>
          <a:ln w="12700">
            <a:solidFill>
              <a:srgbClr val="16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66928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75.36%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2487168" y="658368"/>
            <a:ext cx="36576" cy="91440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70048" y="621792"/>
            <a:ext cx="6035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(31.1% of customers) generate 75.36% of total revenue — £6.57M.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Others segment has the most customers (33.46%) but contributes far less revenue.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driven by customer value, not customer volume.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20240"/>
            <a:ext cx="27432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11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£1.27M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" y="25054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7614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+ Churned customers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14.6% of total revenue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82112" y="192024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82112" y="1920240"/>
            <a:ext cx="27432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2011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90.39%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73552" y="25054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Customer Share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73552" y="27614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3,916 of 4,334 customers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geographic concentration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9904" y="192024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9904" y="1920240"/>
            <a:ext cx="2743200" cy="54864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1344" y="2011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82.82%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181344" y="25054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Revenue Share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81344" y="27614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country exceeds 3.3%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single-market dependency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611880"/>
            <a:ext cx="8595360" cy="685800"/>
          </a:xfrm>
          <a:prstGeom prst="rect">
            <a:avLst/>
          </a:prstGeom>
          <a:solidFill>
            <a:srgbClr val="EEEEF8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611880"/>
            <a:ext cx="54864" cy="68580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6758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is structurally dependent on a small group of Champions in a single market. Revenue concentration (UK: 82.82%) and customer concentration (UK: 90.39%) both signal significant geographic and retention risk.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6172A"/>
          </a:solidFill>
          <a:ln w="12700">
            <a:solidFill>
              <a:srgbClr val="16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ANALYSIS — REVENUE &amp; CUSTOMERS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Customer Segment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68680"/>
          <a:ext cx="42062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5029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by Segment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663440" y="868680"/>
          <a:ext cx="42062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6172A"/>
          </a:solidFill>
          <a:ln w="12700">
            <a:solidFill>
              <a:srgbClr val="16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Behaviour Dashboard</a:t>
            </a:r>
            <a:endParaRPr lang="en-US" sz="1600" dirty="0"/>
          </a:p>
        </p:txBody>
      </p:sp>
      <p:pic>
        <p:nvPicPr>
          <p:cNvPr id="5" name="Image 0" descr="/mnt/user-data/uploads/Rfm_dashboard_1st_page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859536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Python (Pandas)  ·  MySQL  ·  Power BI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UCI Online Retail — Machine Learning Repository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Portfolio: prabhjottkaur.github.io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3383280"/>
            <a:ext cx="1965960" cy="1234440"/>
          </a:xfrm>
          <a:prstGeom prst="rect">
            <a:avLst/>
          </a:prstGeom>
          <a:solidFill>
            <a:srgbClr val="2A2B3D"/>
          </a:solidFill>
          <a:ln w="6350">
            <a:solidFill>
              <a:srgbClr val="3A3B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493008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405993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3383280"/>
            <a:ext cx="1965960" cy="1234440"/>
          </a:xfrm>
          <a:prstGeom prst="rect">
            <a:avLst/>
          </a:prstGeom>
          <a:solidFill>
            <a:srgbClr val="2A2B3D"/>
          </a:solidFill>
          <a:ln w="6350">
            <a:solidFill>
              <a:srgbClr val="3A3B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3493008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4,334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42032" y="405993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6864" y="3383280"/>
            <a:ext cx="1965960" cy="1234440"/>
          </a:xfrm>
          <a:prstGeom prst="rect">
            <a:avLst/>
          </a:prstGeom>
          <a:solidFill>
            <a:srgbClr val="2A2B3D"/>
          </a:solidFill>
          <a:ln w="6350">
            <a:solidFill>
              <a:srgbClr val="3A3B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3493008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75.36%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18304" y="405993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— Champions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03136" y="3383280"/>
            <a:ext cx="1965960" cy="1234440"/>
          </a:xfrm>
          <a:prstGeom prst="rect">
            <a:avLst/>
          </a:prstGeom>
          <a:solidFill>
            <a:srgbClr val="2A2B3D"/>
          </a:solidFill>
          <a:ln w="6350">
            <a:solidFill>
              <a:srgbClr val="3A3B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94576" y="3493008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£1.27M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94576" y="405993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2026-05-25T19:14:27Z</dcterms:created>
  <dcterms:modified xsi:type="dcterms:W3CDTF">2026-05-25T19:14:27Z</dcterms:modified>
</cp:coreProperties>
</file>